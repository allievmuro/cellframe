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502920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0" y="365760"/>
            <a:ext cx="5760720" cy="5303520"/>
          </a:xfrm>
          <a:prstGeom prst="roundRect">
            <a:avLst/>
          </a:prstGeom>
          <a:solidFill>
            <a:srgbClr val="ECF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1A2E05"/>
                </a:solidFill>
                <a:latin typeface="Helvetica Neue"/>
              </a:rPr>
              <a:t>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65A30D"/>
                </a:solidFill>
                <a:latin typeface="Helvetica Neue"/>
              </a:rPr>
              <a:t>Cellframe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E05"/>
                </a:solidFill>
                <a:latin typeface="Helvetica Neue"/>
              </a:rPr>
              <a:t>Patient-owned health data vaults on Base — share selectively, earn USDC when research uses your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A4A"/>
                </a:solidFill>
                <a:latin typeface="Helvetica Neue"/>
              </a:rPr>
              <a:t>Cellframe deploys ERC-7579 modular smart account vaults on Base where patients store encrypted references to their health data — wearable exports, lab results, genomic hashes — with files held on IPFS...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97280" cy="32004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5663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5029200"/>
            <a:ext cx="2286000" cy="32004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5056632"/>
            <a:ext cx="21945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HealthTech &amp; Bio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029200"/>
            <a:ext cx="914400" cy="320040"/>
          </a:xfrm>
          <a:prstGeom prst="roundRect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5056632"/>
            <a:ext cx="8229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6400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2E05"/>
                </a:solidFill>
                <a:latin typeface="Helvetica Neue"/>
              </a:rPr>
              <a:t>Patient-Owned Health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A4A"/>
                </a:solidFill>
                <a:latin typeface="Helvetica Neue"/>
              </a:rPr>
              <a:t>Encrypted vaults · Selective sharing · USDC rewards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05"/>
                </a:solidFill>
                <a:latin typeface="Helvetica Neue"/>
              </a:rPr>
              <a:t>🔒 AES-256 encrypted records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487168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532887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05"/>
                </a:solidFill>
                <a:latin typeface="Helvetica Neue"/>
              </a:rPr>
              <a:t>🔬 Researcher cohort 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145536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1912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05"/>
                </a:solidFill>
                <a:latin typeface="Helvetica Neue"/>
              </a:rPr>
              <a:t>💵 USDC micropayments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803904"/>
            <a:ext cx="51206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84962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E05"/>
                </a:solidFill>
                <a:latin typeface="Helvetica Neue"/>
              </a:rPr>
              <a:t>📋 FDA RWE audit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526280"/>
            <a:ext cx="5120640" cy="50292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5445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Follow Our Journey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120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A7A4A"/>
                </a:solidFill>
                <a:latin typeface="Helvetica Neue"/>
              </a:rPr>
              <a:t>Founded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E05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A7A4A"/>
                </a:solidFill>
                <a:latin typeface="Helvetica Neue"/>
              </a:rPr>
              <a:t>Health data is locked, exploited, and unauditable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2E05"/>
                </a:solidFill>
                <a:latin typeface="Helvetica Neue"/>
              </a:rP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5A30D"/>
                </a:solidFill>
                <a:latin typeface="Helvetica Neue"/>
              </a:rPr>
              <a:t>Data Silos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A4A"/>
                </a:solidFill>
                <a:latin typeface="Helvetica Neue"/>
              </a:rPr>
              <a:t>Patient records trapped in EHR systems — patients have no portable, sovereign copy of their own health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2E05"/>
                </a:solidFill>
                <a:latin typeface="Helvetica Neue"/>
              </a:rPr>
              <a:t>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544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5A30D"/>
                </a:solidFill>
                <a:latin typeface="Helvetica Neue"/>
              </a:rPr>
              <a:t>No Compensation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659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A4A"/>
                </a:solidFill>
                <a:latin typeface="Helvetica Neue"/>
              </a:rPr>
              <a:t>Pharma companies profit billions from patient data. Patients receive $0 and often don't know their data was sold.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2E05"/>
                </a:solidFill>
                <a:latin typeface="Helvetica Neue"/>
              </a:rPr>
              <a:t>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4903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5A30D"/>
                </a:solidFill>
                <a:latin typeface="Helvetica Neue"/>
              </a:rPr>
              <a:t>Consent Theater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605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A4A"/>
                </a:solidFill>
                <a:latin typeface="Helvetica Neue"/>
              </a:rPr>
              <a:t>Paper consent forms and cookie banners offer no cryptographic proof — regulators and patients have no audit trail.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6616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1A2E05"/>
                </a:solidFill>
                <a:latin typeface="Helvetica Neue"/>
              </a:rP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749039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5A30D"/>
                </a:solidFill>
                <a:latin typeface="Helvetica Neue"/>
              </a:rPr>
              <a:t>FDA 2025 RWE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16052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A4A"/>
                </a:solidFill>
                <a:latin typeface="Helvetica Neue"/>
              </a:rPr>
              <a:t>New Real-World Evidence rules require auditable consent for drug approvals. Legacy SaaS cannot provide cryptographic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Helvetica Neue"/>
              </a:rPr>
              <a:t>Cellframe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9F99D"/>
                </a:solidFill>
                <a:latin typeface="Helvetica Neue"/>
              </a:rPr>
              <a:t>Sovereign vaults · Selective consent · On-chain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651760" cy="50292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98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05"/>
                </a:solidFill>
                <a:latin typeface="Helvetica Neue"/>
              </a:rPr>
              <a:t>Patient uploads FHIR records, wearables, genomics to IPFS. AES-256 keys split via Shamir's Secret Sharing.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5A30D"/>
                </a:solidFill>
                <a:latin typeface="Helvetica Neue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280160"/>
            <a:ext cx="2651760" cy="50292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298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Match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6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05"/>
                </a:solidFill>
                <a:latin typeface="Helvetica Neue"/>
              </a:rPr>
              <a:t>Researcher posts cohort query with ICD-10 codes + USDC escrow. Protocol matches anonymized metadata.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5A30D"/>
                </a:solidFill>
                <a:latin typeface="Helvetica Neu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80160"/>
            <a:ext cx="2651760" cy="50292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298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Consent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82880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6596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05"/>
                </a:solidFill>
                <a:latin typeface="Helvetica Neue"/>
              </a:rPr>
              <a:t>Patient receives request, signs time-scoped revocable access token. Full control retained at all times.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5A30D"/>
                </a:solidFill>
                <a:latin typeface="Helvetica Neue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280160"/>
            <a:ext cx="2651760" cy="50292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12984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Earn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828800"/>
            <a:ext cx="26517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96596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E05"/>
                </a:solidFill>
                <a:latin typeface="Helvetica Neue"/>
              </a:rPr>
              <a:t>USDC auto-releases from escrow to patient wallet. ERC-7231 attestation minted as permanent audit proof.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05"/>
                </a:solidFill>
                <a:latin typeface="Helvetica Neue"/>
              </a:rPr>
              <a:t>Core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828800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5 Key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669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05"/>
                </a:solidFill>
                <a:latin typeface="Helvetica Neue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5A30D"/>
                </a:solidFill>
                <a:latin typeface="Helvetica Neue"/>
              </a:rPr>
              <a:t>Encrypted health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47088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A4A"/>
                </a:solidFill>
                <a:latin typeface="Helvetica Neue"/>
              </a:rPr>
              <a:t>patients upload FHIR-formatted records, wearable exports, and genomic files — stored on IPFS, keys held by the patient via Coinbas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188720"/>
            <a:ext cx="5669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533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05"/>
                </a:solidFill>
                <a:latin typeface="Helvetica Neue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5A30D"/>
                </a:solidFill>
                <a:latin typeface="Helvetica Neue"/>
              </a:rPr>
              <a:t>Cohort matching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47088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A4A"/>
                </a:solidFill>
                <a:latin typeface="Helvetica Neue"/>
              </a:rPr>
              <a:t>researchers define on-chain criteria queries (ICD-10 codes, age brackets, device types) and the protocol matches against anonymize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669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393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05"/>
                </a:solidFill>
                <a:latin typeface="Helvetica Neue"/>
              </a:rPr>
              <a:t>✍️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5A30D"/>
                </a:solidFill>
                <a:latin typeface="Helvetica Neue"/>
              </a:rPr>
              <a:t>Consent transaction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133087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A4A"/>
                </a:solidFill>
                <a:latin typeface="Helvetica Neue"/>
              </a:rPr>
              <a:t>each data access request triggers a Base transaction requiring patient signature — time-scoped, purpose-locked, revocable at any 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474720"/>
            <a:ext cx="5669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6393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05"/>
                </a:solidFill>
                <a:latin typeface="Helvetica Neue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657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5A30D"/>
                </a:solidFill>
                <a:latin typeface="Helvetica Neue"/>
              </a:rPr>
              <a:t>USDC micropayment 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133087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A4A"/>
                </a:solidFill>
                <a:latin typeface="Helvetica Neue"/>
              </a:rPr>
              <a:t>researcher escrow auto-releases to patient wallets upon confirmed access token generation, with a 5% protocol fee funding dispute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471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9253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2E05"/>
                </a:solidFill>
                <a:latin typeface="Helvetica Neue"/>
              </a:rPr>
              <a:t>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943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5A30D"/>
                </a:solidFill>
                <a:latin typeface="Helvetica Neue"/>
              </a:rPr>
              <a:t>On-chain audit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6419088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7A4A"/>
                </a:solidFill>
                <a:latin typeface="Helvetica Neue"/>
              </a:rPr>
              <a:t>every consent grant and revocation minted as an ERC-7231 attestation, giving patients a portable, verifiable history of their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A2E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Helvetica Neue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3E635"/>
                </a:solidFill>
                <a:latin typeface="Helvetica Neue"/>
              </a:rPr>
              <a:t>Built on best-in-class crypto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5577840" cy="41148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🔗 Chain &amp; Identity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190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Base (EIP-4844 blobs for consent log storage)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07791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ERC-7579 modular smart accounts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9651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ERC-7231 identity-bound NFTs for disclosure attestations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1208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8523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IPFS + Filecoin for encrypted health record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143000"/>
            <a:ext cx="5577840" cy="41148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1704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🔐 Security &amp;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64592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7190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Shamir's Secret Sharing (SSS) for patient key custody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3464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926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907791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USDC ERC-20 for researcher escrow payments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02336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09651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Coinbase Smart Wallet SDK for patient onboarding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521208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303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28523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FHIR R4 API adapters for EHR data ingestion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640080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64739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Solidity (smart contracts)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758952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7680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7662671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Node.js + TypeScript (backend services)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8778240"/>
            <a:ext cx="55778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8869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4CC16"/>
                </a:solidFill>
                <a:latin typeface="Helvetica Neue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885139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E05"/>
                </a:solidFill>
                <a:latin typeface="Helvetica Neue"/>
              </a:rPr>
              <a:t>React (patient and researcher dashboards)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E05"/>
                </a:solidFill>
                <a:latin typeface="Helvetica Neue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A4A"/>
                </a:solidFill>
                <a:latin typeface="Helvetica Neue"/>
              </a:rPr>
              <a:t>Three phases to full deployment — all planned ahead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3611880" cy="438912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Phase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188720"/>
            <a:ext cx="1097280" cy="32004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21615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Planned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36118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E05"/>
                </a:solidFill>
                <a:latin typeface="Helvetica Neue"/>
              </a:rPr>
              <a:t>Deploy core vault infrastructure and patient onboarding flow on Base testnet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48716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ERC-7579 modular smart account vault contracts deployed on Base Sepolia with AES-256 encryption and Shamir's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81304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FHIR R4 adapter supporting ingestion of wearable exports and lab results into IPFS with content-addressed stor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6636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51389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Coinbase Smart Wallet integration enabling Web2-familiar patient onboarding without seed phrase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59" y="1143000"/>
            <a:ext cx="3611880" cy="438912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170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Phase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188720"/>
            <a:ext cx="1097280" cy="32004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21615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Planned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1645920"/>
            <a:ext cx="36118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737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E05"/>
                </a:solidFill>
                <a:latin typeface="Helvetica Neue"/>
              </a:rPr>
              <a:t>Build and validate the cohort matching engine and consent transaction layer on Base mainnet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51460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248716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On-chain cohort query interface allowing researchers to specify ICD-10 codes, age brackets, and device types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84048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81304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Consent transaction flow with time-scoped, purpose-locked, revocable ERC-20 access tokens and USDC escrow auto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516636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7448" y="51389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ERC-7231 attestation minting for every consent grant and revocation, producing a portable on-chain audit log 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1143000"/>
            <a:ext cx="3611880" cy="438912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17043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elvetica Neue"/>
              </a:rPr>
              <a:t>Phase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61319" y="1188720"/>
            <a:ext cx="1097280" cy="32004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1216152"/>
            <a:ext cx="1005839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Planned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1645920"/>
            <a:ext cx="36118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737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E05"/>
                </a:solidFill>
                <a:latin typeface="Helvetica Neue"/>
              </a:rPr>
              <a:t>Achieve regulatory alignment and onboard initial cohort of research partners for pilot data-access agreements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251460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9367" y="248716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FDA Real-World Evidence compliance documentation package mapping Cellframe's on-chain consent attestations to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84048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9367" y="381304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Researcher dashboard with cohort sizing estimates, escrow management, and downloadable consent audit reports 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5166360"/>
            <a:ext cx="256032" cy="256032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9367" y="51389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A7A4A"/>
                </a:solidFill>
                <a:latin typeface="Helvetica Neue"/>
              </a:rPr>
              <a:t>Pilot program with at least three biotech or academic clinical trial teams running live cohort queries against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E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548640"/>
            <a:ext cx="9445752" cy="557784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822960"/>
            <a:ext cx="8897112" cy="5029200"/>
          </a:xfrm>
          <a:prstGeom prst="roundRect">
            <a:avLst/>
          </a:prstGeom>
          <a:solidFill>
            <a:srgbClr val="4D7C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94960" y="914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1A2E05"/>
                </a:solidFill>
                <a:latin typeface="Helvetica Neue"/>
              </a:rPr>
              <a:t>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7373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Helvetica Neue"/>
              </a:rPr>
              <a:t>Watch Us Build Cellframe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F99D"/>
                </a:solidFill>
                <a:latin typeface="Helvetica Neue"/>
              </a:rPr>
              <a:t>Patient-owned health vaults on Base — encrypted, auditable, rewarded.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063240"/>
            <a:ext cx="2377440" cy="50292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081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🔒 Encrypted Vaults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063240"/>
            <a:ext cx="2377440" cy="50292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081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💵 USDC Rewards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063240"/>
            <a:ext cx="2377440" cy="502920"/>
          </a:xfrm>
          <a:prstGeom prst="round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815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📋 FDA-Ready Audit Trail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794760"/>
            <a:ext cx="5788152" cy="640080"/>
          </a:xfrm>
          <a:prstGeom prst="round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3813048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E05"/>
                </a:solidFill>
                <a:latin typeface="Helvetica Neue"/>
              </a:rPr>
              <a:t>Follow Our Journey →  Founded by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572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3E635"/>
                </a:solidFill>
                <a:latin typeface="Helvetica Neue"/>
              </a:rPr>
              <a:t>Built on Base · ERC-7579 · ERC-7231 · USDC · IPFS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6EFAC"/>
                </a:solidFill>
                <a:latin typeface="Helvetica Neue"/>
              </a:rPr>
              <a:t>Base | HealthTech &amp; Bio |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